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528b3e55b44fb1" /><Relationship Type="http://schemas.openxmlformats.org/officeDocument/2006/relationships/extended-properties" Target="/docProps/app.xml" Id="R78d1b5c01fd2491f" /><Relationship Type="http://schemas.openxmlformats.org/officeDocument/2006/relationships/officeDocument" Target="/ppt/presentation.xml" Id="Rcf5ff9abb72447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3ee481c2d4351"/>
  </p:sldMasterIdLst>
  <p:notesMasterIdLst>
    <p:notesMasterId xmlns:r="http://schemas.openxmlformats.org/officeDocument/2006/relationships" r:id="Rf496e394e1ab4dc8"/>
  </p:notesMasterIdLst>
  <p:sldIdLst>
    <p:sldId xmlns:r="http://schemas.openxmlformats.org/officeDocument/2006/relationships" id="256" r:id="R699dcf21989c4c5b"/>
    <p:sldId xmlns:r="http://schemas.openxmlformats.org/officeDocument/2006/relationships" id="257" r:id="Rc9266683b8cb40c1"/>
    <p:sldId xmlns:r="http://schemas.openxmlformats.org/officeDocument/2006/relationships" id="258" r:id="R6c00575363894863"/>
    <p:sldId xmlns:r="http://schemas.openxmlformats.org/officeDocument/2006/relationships" id="259" r:id="Rab7a49e76c3b45af"/>
    <p:sldId xmlns:r="http://schemas.openxmlformats.org/officeDocument/2006/relationships" id="260" r:id="R13639d203a254f5e"/>
    <p:sldId xmlns:r="http://schemas.openxmlformats.org/officeDocument/2006/relationships" id="261" r:id="R15d1ba57f80e4c98"/>
    <p:sldId xmlns:r="http://schemas.openxmlformats.org/officeDocument/2006/relationships" id="262" r:id="R7be0729d1a354063"/>
    <p:sldId xmlns:r="http://schemas.openxmlformats.org/officeDocument/2006/relationships" id="263" r:id="R15b241942dfe4c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6233c42e934ea2" /><Relationship Type="http://schemas.openxmlformats.org/officeDocument/2006/relationships/slideMaster" Target="/ppt/slideMasters/slideMaster1.xml" Id="R11f3ee481c2d4351" /><Relationship Type="http://schemas.openxmlformats.org/officeDocument/2006/relationships/notesMaster" Target="/ppt/notesMasters/notesMaster1.xml" Id="Rf496e394e1ab4dc8" /><Relationship Type="http://schemas.openxmlformats.org/officeDocument/2006/relationships/presProps" Target="/ppt/presProps.xml" Id="Rc464a6de9bdc425f" /><Relationship Type="http://schemas.openxmlformats.org/officeDocument/2006/relationships/tableStyles" Target="/ppt/tableStyles.xml" Id="Ra75162d5e38b4501" /><Relationship Type="http://schemas.openxmlformats.org/officeDocument/2006/relationships/slide" Target="/ppt/slides/slide1.xml" Id="R699dcf21989c4c5b" /><Relationship Type="http://schemas.openxmlformats.org/officeDocument/2006/relationships/slide" Target="/ppt/slides/slide2.xml" Id="Rc9266683b8cb40c1" /><Relationship Type="http://schemas.openxmlformats.org/officeDocument/2006/relationships/slide" Target="/ppt/slides/slide3.xml" Id="R6c00575363894863" /><Relationship Type="http://schemas.openxmlformats.org/officeDocument/2006/relationships/slide" Target="/ppt/slides/slide4.xml" Id="Rab7a49e76c3b45af" /><Relationship Type="http://schemas.openxmlformats.org/officeDocument/2006/relationships/slide" Target="/ppt/slides/slide5.xml" Id="R13639d203a254f5e" /><Relationship Type="http://schemas.openxmlformats.org/officeDocument/2006/relationships/slide" Target="/ppt/slides/slide6.xml" Id="R15d1ba57f80e4c98" /><Relationship Type="http://schemas.openxmlformats.org/officeDocument/2006/relationships/slide" Target="/ppt/slides/slide7.xml" Id="R7be0729d1a354063" /><Relationship Type="http://schemas.openxmlformats.org/officeDocument/2006/relationships/slide" Target="/ppt/slides/slide8.xml" Id="R15b241942dfe4c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4013d3b9964a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aa1702df1343fd" /><Relationship Type="http://schemas.openxmlformats.org/officeDocument/2006/relationships/notesMaster" Target="/ppt/notesMasters/notesMaster1.xml" Id="R3ecd89942fe849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77eeb3796a45d8" /><Relationship Type="http://schemas.openxmlformats.org/officeDocument/2006/relationships/notesMaster" Target="/ppt/notesMasters/notesMaster1.xml" Id="Rb45703bd67144f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edfe3b2cc04f53" /><Relationship Type="http://schemas.openxmlformats.org/officeDocument/2006/relationships/notesMaster" Target="/ppt/notesMasters/notesMaster1.xml" Id="Rbac973172520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97a2208f714b44" /><Relationship Type="http://schemas.openxmlformats.org/officeDocument/2006/relationships/notesMaster" Target="/ppt/notesMasters/notesMaster1.xml" Id="R58c104cded244b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1d8f3909c441ae" /><Relationship Type="http://schemas.openxmlformats.org/officeDocument/2006/relationships/notesMaster" Target="/ppt/notesMasters/notesMaster1.xml" Id="R6e672ea43813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376f9d7a7b4325" /><Relationship Type="http://schemas.openxmlformats.org/officeDocument/2006/relationships/notesMaster" Target="/ppt/notesMasters/notesMaster1.xml" Id="Ra0d97475e73b45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37b43640e94f51" /><Relationship Type="http://schemas.openxmlformats.org/officeDocument/2006/relationships/notesMaster" Target="/ppt/notesMasters/notesMaster1.xml" Id="Rb8b26b26783840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d93462df3e4632" /><Relationship Type="http://schemas.openxmlformats.org/officeDocument/2006/relationships/notesMaster" Target="/ppt/notesMasters/notesMaster1.xml" Id="Re75e3409b9f9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ae507972943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9ad33b7c34bc5" /><Relationship Type="http://schemas.openxmlformats.org/officeDocument/2006/relationships/slideLayout" Target="/ppt/slideLayouts/slideLayout1.xml" Id="R2d59326c5740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9326c5740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7d04a276d4b62" /><Relationship Type="http://schemas.openxmlformats.org/officeDocument/2006/relationships/notesSlide" Target="/ppt/notesSlides/notesSlide1.xml" Id="R969d46f33b8d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c4600f31142d8" /><Relationship Type="http://schemas.openxmlformats.org/officeDocument/2006/relationships/notesSlide" Target="/ppt/notesSlides/notesSlide2.xml" Id="R2a99a1dedb3d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9360caf0140af" /><Relationship Type="http://schemas.openxmlformats.org/officeDocument/2006/relationships/notesSlide" Target="/ppt/notesSlides/notesSlide3.xml" Id="R755e7aba998445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f8e3f1fd4e6a" /><Relationship Type="http://schemas.openxmlformats.org/officeDocument/2006/relationships/notesSlide" Target="/ppt/notesSlides/notesSlide4.xml" Id="Redcdc5f4d0974f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4cc2ac19e4dcd" /><Relationship Type="http://schemas.openxmlformats.org/officeDocument/2006/relationships/notesSlide" Target="/ppt/notesSlides/notesSlide5.xml" Id="Rfa0887a362724c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339bf23a743b8" /><Relationship Type="http://schemas.openxmlformats.org/officeDocument/2006/relationships/notesSlide" Target="/ppt/notesSlides/notesSlide6.xml" Id="R0ebf5ed69c4e46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01f670fb74197" /><Relationship Type="http://schemas.openxmlformats.org/officeDocument/2006/relationships/notesSlide" Target="/ppt/notesSlides/notesSlide7.xml" Id="R6321c3b613bc44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4312542c44e00" /><Relationship Type="http://schemas.openxmlformats.org/officeDocument/2006/relationships/notesSlide" Target="/ppt/notesSlides/notesSlide8.xml" Id="R3f3cc7b8416944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626B560-7840-436F-82FC-4503FD3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BD519B-3B6D-4D28-AED6-571AC18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AI in Education and Work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CBEF200-B5E5-4C12-892F-893048D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A practical discussion for STEM teachers</a:t>
            </a:r>
          </a:p>
        </p:txBody>
      </p:sp>
      <p:sp>
        <p:nvSpPr>
          <p:cNvPr id="4" name="anchor-box">
            <a:extLst xmlns:a="http://schemas.openxmlformats.org/drawingml/2006/main">
              <a:ext uri="{FF2B5EF4-FFF2-40B4-BE49-F238E27FC236}">
                <a16:creationId xmlns:a16="http://schemas.microsoft.com/office/drawing/2014/main" id="{394CE50E-6584-4C52-B479-1C50FEC5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001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anchor">
            <a:extLst xmlns:a="http://schemas.openxmlformats.org/drawingml/2006/main">
              <a:ext uri="{FF2B5EF4-FFF2-40B4-BE49-F238E27FC236}">
                <a16:creationId xmlns:a16="http://schemas.microsoft.com/office/drawing/2014/main" id="{E683662F-D1B0-46E3-982B-F89B132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AI can help with the work.</a:t>
            </a:r>
          </a:p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Humans own the judgment.</a:t>
            </a:r>
          </a:p>
        </p:txBody>
      </p:sp>
      <p:sp>
        <p:nvSpPr>
          <p:cNvPr id="6" name="purpose">
            <a:extLst xmlns:a="http://schemas.openxmlformats.org/drawingml/2006/main">
              <a:ext uri="{FF2B5EF4-FFF2-40B4-BE49-F238E27FC236}">
                <a16:creationId xmlns:a16="http://schemas.microsoft.com/office/drawing/2014/main" id="{C6676C79-A410-4A84-852D-44B86708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Goal: decide what students must still understand, verify, and own.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C158376-2C9E-4A35-BB83-09BA961E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1</a:t>
            </a:r>
          </a:p>
        </p:txBody>
      </p:sp>
    </p:spTree>
    <p:extLst>
      <p:ext uri="{BB962C8B-B14F-4D97-AF65-F5344CB8AC3E}">
        <p14:creationId xmlns:p14="http://schemas.microsoft.com/office/powerpoint/2010/main" val="364839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B496F82-DD00-4255-A44E-9AAFD7DE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9E6A92-B874-4563-825F-0A1ADA30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The Problem Is Old. The Scale Is New.</a:t>
            </a:r>
          </a:p>
        </p:txBody>
      </p:sp>
      <p:sp>
        <p:nvSpPr>
          <p:cNvPr id="3" name="bullet-1">
            <a:extLst xmlns:a="http://schemas.openxmlformats.org/drawingml/2006/main">
              <a:ext uri="{FF2B5EF4-FFF2-40B4-BE49-F238E27FC236}">
                <a16:creationId xmlns:a16="http://schemas.microsoft.com/office/drawing/2014/main" id="{2396AF41-6B5B-4970-8A3C-BE018F8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F172A"/>
                </a:solidFill>
              </a:defRPr>
            </a:pPr>
            <a:r>
              <a:rPr sz="2025">
                <a:solidFill>
                  <a:srgbClr val="0F172A"/>
                </a:solidFill>
              </a:rPr>
              <a:t>• Students have always been able to get too much help.</a:t>
            </a:r>
          </a:p>
        </p:txBody>
      </p:sp>
      <p:sp>
        <p:nvSpPr>
          <p:cNvPr id="4" name="bullet-2">
            <a:extLst xmlns:a="http://schemas.openxmlformats.org/drawingml/2006/main">
              <a:ext uri="{FF2B5EF4-FFF2-40B4-BE49-F238E27FC236}">
                <a16:creationId xmlns:a16="http://schemas.microsoft.com/office/drawing/2014/main" id="{B9C7195B-778D-40B4-B865-7251699F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F172A"/>
                </a:solidFill>
              </a:defRPr>
            </a:pPr>
            <a:r>
              <a:rPr sz="2025">
                <a:solidFill>
                  <a:srgbClr val="0F172A"/>
                </a:solidFill>
              </a:rPr>
              <a:t>• Students have always been able to produce words without understanding.</a:t>
            </a:r>
          </a:p>
        </p:txBody>
      </p:sp>
      <p:sp>
        <p:nvSpPr>
          <p:cNvPr id="5" name="bullet-3">
            <a:extLst xmlns:a="http://schemas.openxmlformats.org/drawingml/2006/main">
              <a:ext uri="{FF2B5EF4-FFF2-40B4-BE49-F238E27FC236}">
                <a16:creationId xmlns:a16="http://schemas.microsoft.com/office/drawing/2014/main" id="{7860D668-9D98-4948-8F0C-C061FED1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F172A"/>
                </a:solidFill>
              </a:defRPr>
            </a:pPr>
            <a:r>
              <a:rPr sz="2025">
                <a:solidFill>
                  <a:srgbClr val="0F172A"/>
                </a:solidFill>
              </a:rPr>
              <a:t>• AI changes the speed, polish, scale, and availability.</a:t>
            </a:r>
          </a:p>
        </p:txBody>
      </p:sp>
      <p:sp>
        <p:nvSpPr>
          <p:cNvPr id="6" name="callout">
            <a:extLst xmlns:a="http://schemas.openxmlformats.org/drawingml/2006/main">
              <a:ext uri="{FF2B5EF4-FFF2-40B4-BE49-F238E27FC236}">
                <a16:creationId xmlns:a16="http://schemas.microsoft.com/office/drawing/2014/main" id="{F3971FC9-2D13-4A95-BDA4-94790494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857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7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69643BCC-5C6A-4CD8-A64E-D1FE77A0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C2D12"/>
                </a:solidFill>
              </a:defRPr>
            </a:pPr>
            <a:r>
              <a:rPr sz="2025" b="1">
                <a:solidFill>
                  <a:srgbClr val="7C2D12"/>
                </a:solidFill>
              </a:rPr>
              <a:t>AI did not create the learning problem. It exposed and accelerated it.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E96FA58-3C30-455A-93E8-01741ED3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2</a:t>
            </a:r>
          </a:p>
        </p:txBody>
      </p:sp>
    </p:spTree>
    <p:extLst>
      <p:ext uri="{BB962C8B-B14F-4D97-AF65-F5344CB8AC3E}">
        <p14:creationId xmlns:p14="http://schemas.microsoft.com/office/powerpoint/2010/main" val="1874621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650677F-390A-4BD4-AC43-C968831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636D40-5637-47D7-86F8-DBB615E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"Used AI" Is Too Vague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D3C894-50E4-47C4-A44E-5425D0D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The role of AI matters more than the yes/no question.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BD643065-5DFB-4305-8736-0BDC267F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level-0">
            <a:extLst xmlns:a="http://schemas.openxmlformats.org/drawingml/2006/main">
              <a:ext uri="{FF2B5EF4-FFF2-40B4-BE49-F238E27FC236}">
                <a16:creationId xmlns:a16="http://schemas.microsoft.com/office/drawing/2014/main" id="{2C30B284-EA40-45C4-B2D5-2398D3E5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0EA80B58-3425-4471-A767-F6CE510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Copy answer</a:t>
            </a:r>
          </a:p>
        </p:txBody>
      </p:sp>
      <p:sp>
        <p:nvSpPr>
          <p:cNvPr id="7" name="risk-0">
            <a:extLst xmlns:a="http://schemas.openxmlformats.org/drawingml/2006/main">
              <a:ext uri="{FF2B5EF4-FFF2-40B4-BE49-F238E27FC236}">
                <a16:creationId xmlns:a16="http://schemas.microsoft.com/office/drawing/2014/main" id="{1EAF9FDE-09FD-46AB-AEE9-F964A53D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Replaces thinking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9DF13192-9ABF-428B-9FEB-256D98E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level-1">
            <a:extLst xmlns:a="http://schemas.openxmlformats.org/drawingml/2006/main">
              <a:ext uri="{FF2B5EF4-FFF2-40B4-BE49-F238E27FC236}">
                <a16:creationId xmlns:a16="http://schemas.microsoft.com/office/drawing/2014/main" id="{55C9ECB1-5786-4D7A-BF33-EF1CD3E0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C9859D7C-D873-436D-9E77-A91A4245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Q&amp;A</a:t>
            </a:r>
          </a:p>
        </p:txBody>
      </p:sp>
      <p:sp>
        <p:nvSpPr>
          <p:cNvPr id="11" name="risk-1">
            <a:extLst xmlns:a="http://schemas.openxmlformats.org/drawingml/2006/main">
              <a:ext uri="{FF2B5EF4-FFF2-40B4-BE49-F238E27FC236}">
                <a16:creationId xmlns:a16="http://schemas.microsoft.com/office/drawing/2014/main" id="{BA7245CC-C5E4-4C69-AD63-F6CF23B1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May help or bypass</a:t>
            </a:r>
          </a:p>
        </p:txBody>
      </p:sp>
      <p:sp>
        <p:nvSpPr>
          <p:cNvPr id="12" name="row-2">
            <a:extLst xmlns:a="http://schemas.openxmlformats.org/drawingml/2006/main">
              <a:ext uri="{FF2B5EF4-FFF2-40B4-BE49-F238E27FC236}">
                <a16:creationId xmlns:a16="http://schemas.microsoft.com/office/drawing/2014/main" id="{082EF3EF-5D99-4AC7-833E-5EBC32E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level-2">
            <a:extLst xmlns:a="http://schemas.openxmlformats.org/drawingml/2006/main">
              <a:ext uri="{FF2B5EF4-FFF2-40B4-BE49-F238E27FC236}">
                <a16:creationId xmlns:a16="http://schemas.microsoft.com/office/drawing/2014/main" id="{85FA6EB0-1016-466E-802E-85972A70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C0E2815D-C187-4F15-BC73-6AF6F71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Prompt/context</a:t>
            </a:r>
          </a:p>
        </p:txBody>
      </p:sp>
      <p:sp>
        <p:nvSpPr>
          <p:cNvPr id="15" name="risk-2">
            <a:extLst xmlns:a="http://schemas.openxmlformats.org/drawingml/2006/main">
              <a:ext uri="{FF2B5EF4-FFF2-40B4-BE49-F238E27FC236}">
                <a16:creationId xmlns:a16="http://schemas.microsoft.com/office/drawing/2014/main" id="{C9120C27-2FA1-4CF1-9430-B14997A7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Student directs the tool</a:t>
            </a:r>
          </a:p>
        </p:txBody>
      </p:sp>
      <p:sp>
        <p:nvSpPr>
          <p:cNvPr id="16" name="row-3">
            <a:extLst xmlns:a="http://schemas.openxmlformats.org/drawingml/2006/main">
              <a:ext uri="{FF2B5EF4-FFF2-40B4-BE49-F238E27FC236}">
                <a16:creationId xmlns:a16="http://schemas.microsoft.com/office/drawing/2014/main" id="{C4E403CF-4CA9-4187-8A88-BC679320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level-3">
            <a:extLst xmlns:a="http://schemas.openxmlformats.org/drawingml/2006/main">
              <a:ext uri="{FF2B5EF4-FFF2-40B4-BE49-F238E27FC236}">
                <a16:creationId xmlns:a16="http://schemas.microsoft.com/office/drawing/2014/main" id="{7E5DC7FE-D9A9-4003-92F3-FACBD43B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8" name="role-3">
            <a:extLst xmlns:a="http://schemas.openxmlformats.org/drawingml/2006/main">
              <a:ext uri="{FF2B5EF4-FFF2-40B4-BE49-F238E27FC236}">
                <a16:creationId xmlns:a16="http://schemas.microsoft.com/office/drawing/2014/main" id="{A9D5CD71-1438-4471-9C50-3DED5E9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Tutor</a:t>
            </a:r>
          </a:p>
        </p:txBody>
      </p:sp>
      <p:sp>
        <p:nvSpPr>
          <p:cNvPr id="19" name="risk-3">
            <a:extLst xmlns:a="http://schemas.openxmlformats.org/drawingml/2006/main">
              <a:ext uri="{FF2B5EF4-FFF2-40B4-BE49-F238E27FC236}">
                <a16:creationId xmlns:a16="http://schemas.microsoft.com/office/drawing/2014/main" id="{B5D8B1D8-9795-42C1-92DE-96A708F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Practice with support</a:t>
            </a:r>
          </a:p>
        </p:txBody>
      </p:sp>
      <p:sp>
        <p:nvSpPr>
          <p:cNvPr id="20" name="row-4">
            <a:extLst xmlns:a="http://schemas.openxmlformats.org/drawingml/2006/main">
              <a:ext uri="{FF2B5EF4-FFF2-40B4-BE49-F238E27FC236}">
                <a16:creationId xmlns:a16="http://schemas.microsoft.com/office/drawing/2014/main" id="{1BA4894D-D3AC-4799-91AF-0C146BA6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level-4">
            <a:extLst xmlns:a="http://schemas.openxmlformats.org/drawingml/2006/main">
              <a:ext uri="{FF2B5EF4-FFF2-40B4-BE49-F238E27FC236}">
                <a16:creationId xmlns:a16="http://schemas.microsoft.com/office/drawing/2014/main" id="{C2D7F77E-C913-4F4E-BA88-36857115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2" name="role-4">
            <a:extLst xmlns:a="http://schemas.openxmlformats.org/drawingml/2006/main">
              <a:ext uri="{FF2B5EF4-FFF2-40B4-BE49-F238E27FC236}">
                <a16:creationId xmlns:a16="http://schemas.microsoft.com/office/drawing/2014/main" id="{475580EB-750E-4250-8852-F38E9BED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Critic/reviewer</a:t>
            </a:r>
          </a:p>
        </p:txBody>
      </p:sp>
      <p:sp>
        <p:nvSpPr>
          <p:cNvPr id="23" name="risk-4">
            <a:extLst xmlns:a="http://schemas.openxmlformats.org/drawingml/2006/main">
              <a:ext uri="{FF2B5EF4-FFF2-40B4-BE49-F238E27FC236}">
                <a16:creationId xmlns:a16="http://schemas.microsoft.com/office/drawing/2014/main" id="{8739C903-7AF0-4D26-9C95-91C8E2B7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Student revises and evaluates</a:t>
            </a:r>
          </a:p>
        </p:txBody>
      </p:sp>
      <p:sp>
        <p:nvSpPr>
          <p:cNvPr id="24" name="row-5">
            <a:extLst xmlns:a="http://schemas.openxmlformats.org/drawingml/2006/main">
              <a:ext uri="{FF2B5EF4-FFF2-40B4-BE49-F238E27FC236}">
                <a16:creationId xmlns:a16="http://schemas.microsoft.com/office/drawing/2014/main" id="{60219A8A-EF4D-4C7D-A08B-D23D7DB9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level-5">
            <a:extLst xmlns:a="http://schemas.openxmlformats.org/drawingml/2006/main">
              <a:ext uri="{FF2B5EF4-FFF2-40B4-BE49-F238E27FC236}">
                <a16:creationId xmlns:a16="http://schemas.microsoft.com/office/drawing/2014/main" id="{B974B4BC-FD0B-4ABD-ABF6-D77EF06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6" name="role-5">
            <a:extLst xmlns:a="http://schemas.openxmlformats.org/drawingml/2006/main">
              <a:ext uri="{FF2B5EF4-FFF2-40B4-BE49-F238E27FC236}">
                <a16:creationId xmlns:a16="http://schemas.microsoft.com/office/drawing/2014/main" id="{CA46477B-BE94-48B2-981B-89F760C7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Workflow assistant</a:t>
            </a:r>
          </a:p>
        </p:txBody>
      </p:sp>
      <p:sp>
        <p:nvSpPr>
          <p:cNvPr id="27" name="risk-5">
            <a:extLst xmlns:a="http://schemas.openxmlformats.org/drawingml/2006/main">
              <a:ext uri="{FF2B5EF4-FFF2-40B4-BE49-F238E27FC236}">
                <a16:creationId xmlns:a16="http://schemas.microsoft.com/office/drawing/2014/main" id="{19C167A0-739D-423B-A94D-81EB35B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Student manages process</a:t>
            </a:r>
          </a:p>
        </p:txBody>
      </p:sp>
      <p:sp>
        <p:nvSpPr>
          <p:cNvPr id="28" name="row-6">
            <a:extLst xmlns:a="http://schemas.openxmlformats.org/drawingml/2006/main">
              <a:ext uri="{FF2B5EF4-FFF2-40B4-BE49-F238E27FC236}">
                <a16:creationId xmlns:a16="http://schemas.microsoft.com/office/drawing/2014/main" id="{346A4C42-3D35-4D6B-B8FF-1B6A2785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level-6">
            <a:extLst xmlns:a="http://schemas.openxmlformats.org/drawingml/2006/main">
              <a:ext uri="{FF2B5EF4-FFF2-40B4-BE49-F238E27FC236}">
                <a16:creationId xmlns:a16="http://schemas.microsoft.com/office/drawing/2014/main" id="{5994766E-CD45-4333-8804-C7188EE9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30" name="role-6">
            <a:extLst xmlns:a="http://schemas.openxmlformats.org/drawingml/2006/main">
              <a:ext uri="{FF2B5EF4-FFF2-40B4-BE49-F238E27FC236}">
                <a16:creationId xmlns:a16="http://schemas.microsoft.com/office/drawing/2014/main" id="{8D977B42-5D08-467D-A0CC-8F63F528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Agentic workflow</a:t>
            </a:r>
          </a:p>
        </p:txBody>
      </p:sp>
      <p:sp>
        <p:nvSpPr>
          <p:cNvPr id="31" name="risk-6">
            <a:extLst xmlns:a="http://schemas.openxmlformats.org/drawingml/2006/main">
              <a:ext uri="{FF2B5EF4-FFF2-40B4-BE49-F238E27FC236}">
                <a16:creationId xmlns:a16="http://schemas.microsoft.com/office/drawing/2014/main" id="{20836E79-EBA5-4E7A-9303-8841277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482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AI plans/tests/revises under guardrails</a:t>
            </a:r>
          </a:p>
        </p:txBody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14C341E1-0C5F-452D-ABD1-D6978B17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3</a:t>
            </a:r>
          </a:p>
        </p:txBody>
      </p:sp>
    </p:spTree>
    <p:extLst>
      <p:ext uri="{BB962C8B-B14F-4D97-AF65-F5344CB8AC3E}">
        <p14:creationId xmlns:p14="http://schemas.microsoft.com/office/powerpoint/2010/main" val="1103406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E8D1ADE-4CE6-4224-ACFD-E1A446DA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6C722A-D9DD-4901-A8E0-B5E115DB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What Work Needs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AFB5B76-2F45-41DD-BC79-F5F04737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Output is not the product. Verified results are.</a:t>
            </a:r>
          </a:p>
        </p:txBody>
      </p:sp>
      <p:sp>
        <p:nvSpPr>
          <p:cNvPr id="4" name="need-0">
            <a:extLst xmlns:a="http://schemas.openxmlformats.org/drawingml/2006/main">
              <a:ext uri="{FF2B5EF4-FFF2-40B4-BE49-F238E27FC236}">
                <a16:creationId xmlns:a16="http://schemas.microsoft.com/office/drawing/2014/main" id="{2F426B8B-6C1D-4CC4-BDB6-296C208D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need-text-0">
            <a:extLst xmlns:a="http://schemas.openxmlformats.org/drawingml/2006/main">
              <a:ext uri="{FF2B5EF4-FFF2-40B4-BE49-F238E27FC236}">
                <a16:creationId xmlns:a16="http://schemas.microsoft.com/office/drawing/2014/main" id="{B193D3A4-6E6E-4917-BE22-67DE0C9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33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clear requirements</a:t>
            </a:r>
          </a:p>
        </p:txBody>
      </p:sp>
      <p:sp>
        <p:nvSpPr>
          <p:cNvPr id="6" name="need-1">
            <a:extLst xmlns:a="http://schemas.openxmlformats.org/drawingml/2006/main">
              <a:ext uri="{FF2B5EF4-FFF2-40B4-BE49-F238E27FC236}">
                <a16:creationId xmlns:a16="http://schemas.microsoft.com/office/drawing/2014/main" id="{3775BC7D-77B0-44CA-9CEA-DD4C91B8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33625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" name="need-text-1">
            <a:extLst xmlns:a="http://schemas.openxmlformats.org/drawingml/2006/main">
              <a:ext uri="{FF2B5EF4-FFF2-40B4-BE49-F238E27FC236}">
                <a16:creationId xmlns:a16="http://schemas.microsoft.com/office/drawing/2014/main" id="{2C5AE764-9E2E-4C9D-AE11-680C7ED6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4E4A"/>
                </a:solidFill>
              </a:defRPr>
            </a:pPr>
            <a:r>
              <a:rPr sz="1950" b="1">
                <a:solidFill>
                  <a:srgbClr val="134E4A"/>
                </a:solidFill>
              </a:rPr>
              <a:t>domain knowledge</a:t>
            </a:r>
          </a:p>
        </p:txBody>
      </p:sp>
      <p:sp>
        <p:nvSpPr>
          <p:cNvPr id="8" name="need-2">
            <a:extLst xmlns:a="http://schemas.openxmlformats.org/drawingml/2006/main">
              <a:ext uri="{FF2B5EF4-FFF2-40B4-BE49-F238E27FC236}">
                <a16:creationId xmlns:a16="http://schemas.microsoft.com/office/drawing/2014/main" id="{3BC983DC-47D1-4FAB-8890-F5812851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need-text-2">
            <a:extLst xmlns:a="http://schemas.openxmlformats.org/drawingml/2006/main">
              <a:ext uri="{FF2B5EF4-FFF2-40B4-BE49-F238E27FC236}">
                <a16:creationId xmlns:a16="http://schemas.microsoft.com/office/drawing/2014/main" id="{6C9B8151-0B45-4D0C-91CD-2F6A72C7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systems thinking</a:t>
            </a:r>
          </a:p>
        </p:txBody>
      </p:sp>
      <p:sp>
        <p:nvSpPr>
          <p:cNvPr id="10" name="need-3">
            <a:extLst xmlns:a="http://schemas.openxmlformats.org/drawingml/2006/main">
              <a:ext uri="{FF2B5EF4-FFF2-40B4-BE49-F238E27FC236}">
                <a16:creationId xmlns:a16="http://schemas.microsoft.com/office/drawing/2014/main" id="{B2A7274E-05A9-44E4-A943-6A8A7BA4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86125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1" name="need-text-3">
            <a:extLst xmlns:a="http://schemas.openxmlformats.org/drawingml/2006/main">
              <a:ext uri="{FF2B5EF4-FFF2-40B4-BE49-F238E27FC236}">
                <a16:creationId xmlns:a16="http://schemas.microsoft.com/office/drawing/2014/main" id="{88B30C15-6A7A-442E-A90A-F89CB00F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4E4A"/>
                </a:solidFill>
              </a:defRPr>
            </a:pPr>
            <a:r>
              <a:rPr sz="1950" b="1">
                <a:solidFill>
                  <a:srgbClr val="134E4A"/>
                </a:solidFill>
              </a:rPr>
              <a:t>testing and verification</a:t>
            </a:r>
          </a:p>
        </p:txBody>
      </p:sp>
      <p:sp>
        <p:nvSpPr>
          <p:cNvPr id="12" name="need-4">
            <a:extLst xmlns:a="http://schemas.openxmlformats.org/drawingml/2006/main">
              <a:ext uri="{FF2B5EF4-FFF2-40B4-BE49-F238E27FC236}">
                <a16:creationId xmlns:a16="http://schemas.microsoft.com/office/drawing/2014/main" id="{3C29CB70-2179-4CA8-9D35-B4EF130B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need-text-4">
            <a:extLst xmlns:a="http://schemas.openxmlformats.org/drawingml/2006/main">
              <a:ext uri="{FF2B5EF4-FFF2-40B4-BE49-F238E27FC236}">
                <a16:creationId xmlns:a16="http://schemas.microsoft.com/office/drawing/2014/main" id="{BA7BB30B-7EB8-415A-9B1F-3B04B1A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communication</a:t>
            </a:r>
          </a:p>
        </p:txBody>
      </p:sp>
      <p:sp>
        <p:nvSpPr>
          <p:cNvPr id="14" name="need-5">
            <a:extLst xmlns:a="http://schemas.openxmlformats.org/drawingml/2006/main">
              <a:ext uri="{FF2B5EF4-FFF2-40B4-BE49-F238E27FC236}">
                <a16:creationId xmlns:a16="http://schemas.microsoft.com/office/drawing/2014/main" id="{D3857C5C-6B98-4EEE-89AF-18087726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38625"/>
            <a:ext cx="419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5" name="need-text-5">
            <a:extLst xmlns:a="http://schemas.openxmlformats.org/drawingml/2006/main">
              <a:ext uri="{FF2B5EF4-FFF2-40B4-BE49-F238E27FC236}">
                <a16:creationId xmlns:a16="http://schemas.microsoft.com/office/drawing/2014/main" id="{BB8256C9-A60B-4C01-9B30-D904103E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4E4A"/>
                </a:solidFill>
              </a:defRPr>
            </a:pPr>
            <a:r>
              <a:rPr sz="1950" b="1">
                <a:solidFill>
                  <a:srgbClr val="134E4A"/>
                </a:solidFill>
              </a:rPr>
              <a:t>ownership</a:t>
            </a:r>
          </a:p>
        </p:txBody>
      </p:sp>
      <p:sp>
        <p:nvSpPr>
          <p:cNvPr id="16" name="work-key">
            <a:extLst xmlns:a="http://schemas.openxmlformats.org/drawingml/2006/main">
              <a:ext uri="{FF2B5EF4-FFF2-40B4-BE49-F238E27FC236}">
                <a16:creationId xmlns:a16="http://schemas.microsoft.com/office/drawing/2014/main" id="{C895AC63-6E6F-49E0-8B99-DDCE602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AI can increase output, but useful work still depends on quality standards and human accountability.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E54A2D77-4E52-4C53-85BC-0A920D57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4</a:t>
            </a:r>
          </a:p>
        </p:txBody>
      </p:sp>
    </p:spTree>
    <p:extLst>
      <p:ext uri="{BB962C8B-B14F-4D97-AF65-F5344CB8AC3E}">
        <p14:creationId xmlns:p14="http://schemas.microsoft.com/office/powerpoint/2010/main" val="697619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6B620B3-3D21-4FEB-B1D9-2501B429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FE24DB-DC9E-475F-BDEC-F208F8E7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STEM Teachers Already Teach The Needed Habits</a:t>
            </a:r>
          </a:p>
        </p:txBody>
      </p:sp>
      <p:sp>
        <p:nvSpPr>
          <p:cNvPr id="3" name="habit-0">
            <a:extLst xmlns:a="http://schemas.openxmlformats.org/drawingml/2006/main">
              <a:ext uri="{FF2B5EF4-FFF2-40B4-BE49-F238E27FC236}">
                <a16:creationId xmlns:a16="http://schemas.microsoft.com/office/drawing/2014/main" id="{E7B77C53-0481-430E-A145-1B20FCE7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models are simplifications</a:t>
            </a:r>
          </a:p>
        </p:txBody>
      </p:sp>
      <p:sp>
        <p:nvSpPr>
          <p:cNvPr id="4" name="habit-1">
            <a:extLst xmlns:a="http://schemas.openxmlformats.org/drawingml/2006/main">
              <a:ext uri="{FF2B5EF4-FFF2-40B4-BE49-F238E27FC236}">
                <a16:creationId xmlns:a16="http://schemas.microsoft.com/office/drawing/2014/main" id="{3DBB5F6D-2C2A-49C5-9A18-BD528014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data quality matters</a:t>
            </a:r>
          </a:p>
        </p:txBody>
      </p:sp>
      <p:sp>
        <p:nvSpPr>
          <p:cNvPr id="5" name="habit-2">
            <a:extLst xmlns:a="http://schemas.openxmlformats.org/drawingml/2006/main">
              <a:ext uri="{FF2B5EF4-FFF2-40B4-BE49-F238E27FC236}">
                <a16:creationId xmlns:a16="http://schemas.microsoft.com/office/drawing/2014/main" id="{C0F4D4B8-A35A-465D-9CDC-5E79F184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assumptions matter</a:t>
            </a:r>
          </a:p>
        </p:txBody>
      </p:sp>
      <p:sp>
        <p:nvSpPr>
          <p:cNvPr id="6" name="habit-3">
            <a:extLst xmlns:a="http://schemas.openxmlformats.org/drawingml/2006/main">
              <a:ext uri="{FF2B5EF4-FFF2-40B4-BE49-F238E27FC236}">
                <a16:creationId xmlns:a16="http://schemas.microsoft.com/office/drawing/2014/main" id="{62ABE88F-C9F7-4F1B-94D1-44C26850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62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units matter</a:t>
            </a:r>
          </a:p>
        </p:txBody>
      </p:sp>
      <p:sp>
        <p:nvSpPr>
          <p:cNvPr id="7" name="habit-4">
            <a:extLst xmlns:a="http://schemas.openxmlformats.org/drawingml/2006/main">
              <a:ext uri="{FF2B5EF4-FFF2-40B4-BE49-F238E27FC236}">
                <a16:creationId xmlns:a16="http://schemas.microsoft.com/office/drawing/2014/main" id="{DE511708-DC08-49E2-B3CA-679FA0E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constraints shape design</a:t>
            </a:r>
          </a:p>
        </p:txBody>
      </p:sp>
      <p:sp>
        <p:nvSpPr>
          <p:cNvPr id="8" name="habit-5">
            <a:extLst xmlns:a="http://schemas.openxmlformats.org/drawingml/2006/main">
              <a:ext uri="{FF2B5EF4-FFF2-40B4-BE49-F238E27FC236}">
                <a16:creationId xmlns:a16="http://schemas.microsoft.com/office/drawing/2014/main" id="{1766944C-0CBE-46D4-8D1D-4846EABC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05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tests reveal failure</a:t>
            </a:r>
          </a:p>
        </p:txBody>
      </p:sp>
      <p:sp>
        <p:nvSpPr>
          <p:cNvPr id="9" name="habit-6">
            <a:extLst xmlns:a="http://schemas.openxmlformats.org/drawingml/2006/main">
              <a:ext uri="{FF2B5EF4-FFF2-40B4-BE49-F238E27FC236}">
                <a16:creationId xmlns:a16="http://schemas.microsoft.com/office/drawing/2014/main" id="{3032B989-FAF6-49EF-9F77-DC0D9385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evidence beats confidence</a:t>
            </a:r>
          </a:p>
        </p:txBody>
      </p:sp>
      <p:sp>
        <p:nvSpPr>
          <p:cNvPr id="10" name="habit-7">
            <a:extLst xmlns:a="http://schemas.openxmlformats.org/drawingml/2006/main">
              <a:ext uri="{FF2B5EF4-FFF2-40B4-BE49-F238E27FC236}">
                <a16:creationId xmlns:a16="http://schemas.microsoft.com/office/drawing/2014/main" id="{EB63A6E7-69CB-42FB-9F78-D02865B2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48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172A"/>
                </a:solidFill>
              </a:defRPr>
            </a:pPr>
            <a:r>
              <a:rPr sz="1875">
                <a:solidFill>
                  <a:srgbClr val="0F172A"/>
                </a:solidFill>
              </a:rPr>
              <a:t>• code must be explained</a:t>
            </a:r>
          </a:p>
        </p:txBody>
      </p:sp>
      <p:sp>
        <p:nvSpPr>
          <p:cNvPr id="11" name="stem-callout">
            <a:extLst xmlns:a="http://schemas.openxmlformats.org/drawingml/2006/main">
              <a:ext uri="{FF2B5EF4-FFF2-40B4-BE49-F238E27FC236}">
                <a16:creationId xmlns:a16="http://schemas.microsoft.com/office/drawing/2014/main" id="{2F54E33E-809A-4D5E-8017-0ED240E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7905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2" name="stem-callout-text">
            <a:extLst xmlns:a="http://schemas.openxmlformats.org/drawingml/2006/main">
              <a:ext uri="{FF2B5EF4-FFF2-40B4-BE49-F238E27FC236}">
                <a16:creationId xmlns:a16="http://schemas.microsoft.com/office/drawing/2014/main" id="{C9132AE7-5C3E-4D59-94D2-02190FB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4E63"/>
                </a:solidFill>
              </a:defRPr>
            </a:pPr>
            <a:r>
              <a:rPr sz="2025" b="1">
                <a:solidFill>
                  <a:srgbClr val="164E63"/>
                </a:solidFill>
              </a:rPr>
              <a:t>AI makes STEM thinking more important, not less.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9640A6E-797E-492C-A342-E1E9D39F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5</a:t>
            </a:r>
          </a:p>
        </p:txBody>
      </p:sp>
    </p:spTree>
    <p:extLst>
      <p:ext uri="{BB962C8B-B14F-4D97-AF65-F5344CB8AC3E}">
        <p14:creationId xmlns:p14="http://schemas.microsoft.com/office/powerpoint/2010/main" val="724776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DAFC35A-0D32-46C4-A555-F9E7DE51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A3AD09-5EBC-4537-BD7C-67AD6EF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Finished Work Is Not Enough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B8CABAA-1542-49E3-90A0-E7F71340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Assessment shifts from product only to evidence of thinking.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6D21A240-67AC-4AEB-AC20-D37F51BA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• goal, constraints, assumptions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E6B223A6-BC5B-4DB4-BA03-90CC1A1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• AI-use summary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BAA48E3B-71CE-4852-BAC9-61E9CAD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• sources, calculations, tests, or unit checks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22B7C612-2637-4AAA-A82F-7B2FBBC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• what AI got wrong</a:t>
            </a:r>
          </a:p>
        </p:txBody>
      </p:sp>
      <p:sp>
        <p:nvSpPr>
          <p:cNvPr id="8" name="bullet-5">
            <a:extLst xmlns:a="http://schemas.openxmlformats.org/drawingml/2006/main">
              <a:ext uri="{FF2B5EF4-FFF2-40B4-BE49-F238E27FC236}">
                <a16:creationId xmlns:a16="http://schemas.microsoft.com/office/drawing/2014/main" id="{9D71D976-A59F-4A0E-8D9C-A8682CC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• what the student changed</a:t>
            </a:r>
          </a:p>
        </p:txBody>
      </p:sp>
      <p:sp>
        <p:nvSpPr>
          <p:cNvPr id="9" name="bullet-6">
            <a:extLst xmlns:a="http://schemas.openxmlformats.org/drawingml/2006/main">
              <a:ext uri="{FF2B5EF4-FFF2-40B4-BE49-F238E27FC236}">
                <a16:creationId xmlns:a16="http://schemas.microsoft.com/office/drawing/2014/main" id="{FAC5DB32-68E0-4876-971D-92EE837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• remaining risk or limitation</a:t>
            </a:r>
          </a:p>
        </p:txBody>
      </p:sp>
      <p:sp>
        <p:nvSpPr>
          <p:cNvPr id="10" name="bullet-7">
            <a:extLst xmlns:a="http://schemas.openxmlformats.org/drawingml/2006/main">
              <a:ext uri="{FF2B5EF4-FFF2-40B4-BE49-F238E27FC236}">
                <a16:creationId xmlns:a16="http://schemas.microsoft.com/office/drawing/2014/main" id="{FEAE6403-877A-4735-A553-8BD03431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• short explanation or oral defense</a:t>
            </a:r>
          </a:p>
        </p:txBody>
      </p:sp>
      <p:sp>
        <p:nvSpPr>
          <p:cNvPr id="11" name="friction-callout">
            <a:extLst xmlns:a="http://schemas.openxmlformats.org/drawingml/2006/main">
              <a:ext uri="{FF2B5EF4-FFF2-40B4-BE49-F238E27FC236}">
                <a16:creationId xmlns:a16="http://schemas.microsoft.com/office/drawing/2014/main" id="{64C86361-0956-4F99-8EE6-ADEA767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866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FDE047"/>
            </a:solidFill>
            <a:prstDash val="solid"/>
          </a:ln>
        </p:spPr>
      </p:sp>
      <p:sp>
        <p:nvSpPr>
          <p:cNvPr id="12" name="friction-text">
            <a:extLst xmlns:a="http://schemas.openxmlformats.org/drawingml/2006/main">
              <a:ext uri="{FF2B5EF4-FFF2-40B4-BE49-F238E27FC236}">
                <a16:creationId xmlns:a16="http://schemas.microsoft.com/office/drawing/2014/main" id="{C156C612-D0AC-4EC4-86EA-8DE3F998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91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13F12"/>
                </a:solidFill>
              </a:defRPr>
            </a:pPr>
            <a:r>
              <a:rPr sz="1875" b="1">
                <a:solidFill>
                  <a:srgbClr val="713F12"/>
                </a:solidFill>
              </a:rPr>
              <a:t>Use AI to reduce unnecessary friction, not necessary thinking.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D329AE7-0B73-488D-ADD2-58E7DC8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6</a:t>
            </a:r>
          </a:p>
        </p:txBody>
      </p:sp>
    </p:spTree>
    <p:extLst>
      <p:ext uri="{BB962C8B-B14F-4D97-AF65-F5344CB8AC3E}">
        <p14:creationId xmlns:p14="http://schemas.microsoft.com/office/powerpoint/2010/main" val="200830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208384B-B498-4726-B600-A66BA251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A57F76-6003-43D9-9BB9-4F5B05F5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A Practical Way To Start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4B5CA09-648F-459D-8227-4860E43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Pick one assignment and define the AI role.</a:t>
            </a:r>
          </a:p>
        </p:txBody>
      </p:sp>
      <p:sp>
        <p:nvSpPr>
          <p:cNvPr id="4" name="cat-0">
            <a:extLst xmlns:a="http://schemas.openxmlformats.org/drawingml/2006/main">
              <a:ext uri="{FF2B5EF4-FFF2-40B4-BE49-F238E27FC236}">
                <a16:creationId xmlns:a16="http://schemas.microsoft.com/office/drawing/2014/main" id="{BC0DE8FC-380F-43F8-8705-C09D5157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990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5" name="cat-title-0">
            <a:extLst xmlns:a="http://schemas.openxmlformats.org/drawingml/2006/main">
              <a:ext uri="{FF2B5EF4-FFF2-40B4-BE49-F238E27FC236}">
                <a16:creationId xmlns:a16="http://schemas.microsoft.com/office/drawing/2014/main" id="{8A8E1E5A-63B6-4CC7-A4A1-ED460E8C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91B1B"/>
                </a:solidFill>
              </a:defRPr>
            </a:pPr>
            <a:r>
              <a:rPr sz="1800" b="1">
                <a:solidFill>
                  <a:srgbClr val="991B1B"/>
                </a:solidFill>
              </a:rPr>
              <a:t>AI-Prohibited</a:t>
            </a:r>
          </a:p>
        </p:txBody>
      </p:sp>
      <p:sp>
        <p:nvSpPr>
          <p:cNvPr id="6" name="cat-use-0">
            <a:extLst xmlns:a="http://schemas.openxmlformats.org/drawingml/2006/main">
              <a:ext uri="{FF2B5EF4-FFF2-40B4-BE49-F238E27FC236}">
                <a16:creationId xmlns:a16="http://schemas.microsoft.com/office/drawing/2014/main" id="{077ED8E2-00F0-460C-81D9-751BC43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Independent practice or assessment</a:t>
            </a:r>
          </a:p>
        </p:txBody>
      </p:sp>
      <p:sp>
        <p:nvSpPr>
          <p:cNvPr id="7" name="cat-req-0">
            <a:extLst xmlns:a="http://schemas.openxmlformats.org/drawingml/2006/main">
              <a:ext uri="{FF2B5EF4-FFF2-40B4-BE49-F238E27FC236}">
                <a16:creationId xmlns:a16="http://schemas.microsoft.com/office/drawing/2014/main" id="{9CF667AA-551E-4236-AA25-C31D12D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No AI</a:t>
            </a:r>
          </a:p>
        </p:txBody>
      </p:sp>
      <p:sp>
        <p:nvSpPr>
          <p:cNvPr id="8" name="cat-1">
            <a:extLst xmlns:a="http://schemas.openxmlformats.org/drawingml/2006/main">
              <a:ext uri="{FF2B5EF4-FFF2-40B4-BE49-F238E27FC236}">
                <a16:creationId xmlns:a16="http://schemas.microsoft.com/office/drawing/2014/main" id="{721BBBA3-B651-418C-ADB4-7D388BF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990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9" name="cat-title-1">
            <a:extLst xmlns:a="http://schemas.openxmlformats.org/drawingml/2006/main">
              <a:ext uri="{FF2B5EF4-FFF2-40B4-BE49-F238E27FC236}">
                <a16:creationId xmlns:a16="http://schemas.microsoft.com/office/drawing/2014/main" id="{69946C2E-91C7-4708-BDBA-44F2ED45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400E"/>
                </a:solidFill>
              </a:defRPr>
            </a:pPr>
            <a:r>
              <a:rPr sz="1800" b="1">
                <a:solidFill>
                  <a:srgbClr val="92400E"/>
                </a:solidFill>
              </a:rPr>
              <a:t>AI-Limited</a:t>
            </a:r>
          </a:p>
        </p:txBody>
      </p:sp>
      <p:sp>
        <p:nvSpPr>
          <p:cNvPr id="10" name="cat-use-1">
            <a:extLst xmlns:a="http://schemas.openxmlformats.org/drawingml/2006/main">
              <a:ext uri="{FF2B5EF4-FFF2-40B4-BE49-F238E27FC236}">
                <a16:creationId xmlns:a16="http://schemas.microsoft.com/office/drawing/2014/main" id="{4D4129F9-3136-4BE1-A611-613CE636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AI supports but does not replace learning</a:t>
            </a:r>
          </a:p>
        </p:txBody>
      </p:sp>
      <p:sp>
        <p:nvSpPr>
          <p:cNvPr id="11" name="cat-req-1">
            <a:extLst xmlns:a="http://schemas.openxmlformats.org/drawingml/2006/main">
              <a:ext uri="{FF2B5EF4-FFF2-40B4-BE49-F238E27FC236}">
                <a16:creationId xmlns:a16="http://schemas.microsoft.com/office/drawing/2014/main" id="{B068B869-4BC5-4D54-A924-55AF98F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Disclose use</a:t>
            </a:r>
          </a:p>
        </p:txBody>
      </p:sp>
      <p:sp>
        <p:nvSpPr>
          <p:cNvPr id="12" name="cat-2">
            <a:extLst xmlns:a="http://schemas.openxmlformats.org/drawingml/2006/main">
              <a:ext uri="{FF2B5EF4-FFF2-40B4-BE49-F238E27FC236}">
                <a16:creationId xmlns:a16="http://schemas.microsoft.com/office/drawing/2014/main" id="{CA3AFF5E-36FD-45A8-AB71-45E7213E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9906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3" name="cat-title-2">
            <a:extLst xmlns:a="http://schemas.openxmlformats.org/drawingml/2006/main">
              <a:ext uri="{FF2B5EF4-FFF2-40B4-BE49-F238E27FC236}">
                <a16:creationId xmlns:a16="http://schemas.microsoft.com/office/drawing/2014/main" id="{EE7C8361-8CD6-497F-96B3-D35DE5C8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AI-Allowed</a:t>
            </a:r>
          </a:p>
        </p:txBody>
      </p:sp>
      <p:sp>
        <p:nvSpPr>
          <p:cNvPr id="14" name="cat-use-2">
            <a:extLst xmlns:a="http://schemas.openxmlformats.org/drawingml/2006/main">
              <a:ext uri="{FF2B5EF4-FFF2-40B4-BE49-F238E27FC236}">
                <a16:creationId xmlns:a16="http://schemas.microsoft.com/office/drawing/2014/main" id="{AF4D1DE0-0A88-42A9-9252-D42E534B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AI workflow literacy is part of the goal</a:t>
            </a:r>
          </a:p>
        </p:txBody>
      </p:sp>
      <p:sp>
        <p:nvSpPr>
          <p:cNvPr id="15" name="cat-req-2">
            <a:extLst xmlns:a="http://schemas.openxmlformats.org/drawingml/2006/main">
              <a:ext uri="{FF2B5EF4-FFF2-40B4-BE49-F238E27FC236}">
                <a16:creationId xmlns:a16="http://schemas.microsoft.com/office/drawing/2014/main" id="{CE6EBC3B-092B-4ECE-B378-1872FBCE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72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Process evidence + verification</a:t>
            </a:r>
          </a:p>
        </p:txBody>
      </p:sp>
      <p:sp>
        <p:nvSpPr>
          <p:cNvPr id="16" name="discussion">
            <a:extLst xmlns:a="http://schemas.openxmlformats.org/drawingml/2006/main">
              <a:ext uri="{FF2B5EF4-FFF2-40B4-BE49-F238E27FC236}">
                <a16:creationId xmlns:a16="http://schemas.microsoft.com/office/drawing/2014/main" id="{2213432C-C41A-433F-87A2-062FB38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</a:defRPr>
            </a:pPr>
            <a:r>
              <a:rPr sz="1725">
                <a:solidFill>
                  <a:srgbClr val="475569"/>
                </a:solidFill>
              </a:rPr>
              <a:t>Discussion: How could AI help? How could it break the learning? What evidence would prove understanding?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E0B9A3AB-87AA-41A5-A199-5737BA9E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7</a:t>
            </a:r>
          </a:p>
        </p:txBody>
      </p:sp>
    </p:spTree>
    <p:extLst>
      <p:ext uri="{BB962C8B-B14F-4D97-AF65-F5344CB8AC3E}">
        <p14:creationId xmlns:p14="http://schemas.microsoft.com/office/powerpoint/2010/main" val="1831464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AF58113-D5F2-4FAF-8C90-2CB2105C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IN EDUCATION AND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8AB14D-B7F3-41E2-B116-AD865118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Teachers Need Hands-On Experience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032F44-E095-4251-9066-616A33F5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You cannot evaluate AI well from the sidelines.</a:t>
            </a:r>
          </a:p>
        </p:txBody>
      </p:sp>
      <p:sp>
        <p:nvSpPr>
          <p:cNvPr id="4" name="bullet-1">
            <a:extLst xmlns:a="http://schemas.openxmlformats.org/drawingml/2006/main">
              <a:ext uri="{FF2B5EF4-FFF2-40B4-BE49-F238E27FC236}">
                <a16:creationId xmlns:a16="http://schemas.microsoft.com/office/drawing/2014/main" id="{B153D748-6A49-4D5A-90E8-C24997D6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F172A"/>
                </a:solidFill>
              </a:defRPr>
            </a:pPr>
            <a:r>
              <a:rPr sz="2025">
                <a:solidFill>
                  <a:srgbClr val="0F172A"/>
                </a:solidFill>
              </a:rPr>
              <a:t>• Try AI on one or two real projects.</a:t>
            </a:r>
          </a:p>
        </p:txBody>
      </p:sp>
      <p:sp>
        <p:nvSpPr>
          <p:cNvPr id="5" name="bullet-2">
            <a:extLst xmlns:a="http://schemas.openxmlformats.org/drawingml/2006/main">
              <a:ext uri="{FF2B5EF4-FFF2-40B4-BE49-F238E27FC236}">
                <a16:creationId xmlns:a16="http://schemas.microsoft.com/office/drawing/2014/main" id="{B861CF02-76EF-4C0F-8A4C-3BCB6D19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F172A"/>
                </a:solidFill>
              </a:defRPr>
            </a:pPr>
            <a:r>
              <a:rPr sz="2025">
                <a:solidFill>
                  <a:srgbClr val="0F172A"/>
                </a:solidFill>
              </a:rPr>
              <a:t>• Watch where it helps, fails, and overwhelms.</a:t>
            </a:r>
          </a:p>
        </p:txBody>
      </p:sp>
      <p:sp>
        <p:nvSpPr>
          <p:cNvPr id="6" name="bullet-3">
            <a:extLst xmlns:a="http://schemas.openxmlformats.org/drawingml/2006/main">
              <a:ext uri="{FF2B5EF4-FFF2-40B4-BE49-F238E27FC236}">
                <a16:creationId xmlns:a16="http://schemas.microsoft.com/office/drawing/2014/main" id="{3ACBA231-6885-43E3-88FB-0EC7A10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F172A"/>
                </a:solidFill>
              </a:defRPr>
            </a:pPr>
            <a:r>
              <a:rPr sz="2025">
                <a:solidFill>
                  <a:srgbClr val="0F172A"/>
                </a:solidFill>
              </a:rPr>
              <a:t>• Document what still required human judgment.</a:t>
            </a:r>
          </a:p>
        </p:txBody>
      </p:sp>
      <p:sp>
        <p:nvSpPr>
          <p:cNvPr id="7" name="bullet-4">
            <a:extLst xmlns:a="http://schemas.openxmlformats.org/drawingml/2006/main">
              <a:ext uri="{FF2B5EF4-FFF2-40B4-BE49-F238E27FC236}">
                <a16:creationId xmlns:a16="http://schemas.microsoft.com/office/drawing/2014/main" id="{7445E8EE-FAE5-4D7D-BAB6-13A5C3F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F172A"/>
                </a:solidFill>
              </a:defRPr>
            </a:pPr>
            <a:r>
              <a:rPr sz="2025">
                <a:solidFill>
                  <a:srgbClr val="0F172A"/>
                </a:solidFill>
              </a:rPr>
              <a:t>• Then redesign one assignment with clear AI boundaries.</a:t>
            </a:r>
          </a:p>
        </p:txBody>
      </p:sp>
      <p:sp>
        <p:nvSpPr>
          <p:cNvPr id="8" name="teacher-callout">
            <a:extLst xmlns:a="http://schemas.openxmlformats.org/drawingml/2006/main">
              <a:ext uri="{FF2B5EF4-FFF2-40B4-BE49-F238E27FC236}">
                <a16:creationId xmlns:a16="http://schemas.microsoft.com/office/drawing/2014/main" id="{279C4953-C7E2-4EDF-A4DA-26882FA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8096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teacher-callout-text">
            <a:extLst xmlns:a="http://schemas.openxmlformats.org/drawingml/2006/main">
              <a:ext uri="{FF2B5EF4-FFF2-40B4-BE49-F238E27FC236}">
                <a16:creationId xmlns:a16="http://schemas.microsoft.com/office/drawing/2014/main" id="{46267062-36D2-46B6-90FC-44FF76F9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483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Guided student use starts with guided teacher experience.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765886C-1BBC-4D91-BBA7-706602F4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AI can help with the work. Humans own the judgment.   8</a:t>
            </a:r>
          </a:p>
        </p:txBody>
      </p:sp>
    </p:spTree>
    <p:extLst>
      <p:ext uri="{BB962C8B-B14F-4D97-AF65-F5344CB8AC3E}">
        <p14:creationId xmlns:p14="http://schemas.microsoft.com/office/powerpoint/2010/main" val="974383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2026-06-22T03:03:56.3620000Z</dcterms:created>
  <dcterms:modified xsi:type="dcterms:W3CDTF">2026-06-22T03:03:56.3620000Z</dcterms:modified>
</coreProperties>
</file>